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75373-A4D5-4E3D-9BAE-F6A9F44E6792}" v="56" dt="2026-08-29T14:07:12.3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859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jan Bojja" userId="9dd9b8128eec74f3" providerId="LiveId" clId="{1FFEEFEF-D932-402B-875C-EA502E1000FD}"/>
    <pc:docChg chg="undo custSel addSld modSld">
      <pc:chgData name="Srijan Bojja" userId="9dd9b8128eec74f3" providerId="LiveId" clId="{1FFEEFEF-D932-402B-875C-EA502E1000FD}" dt="2026-09-02T03:26:26.826" v="868" actId="20577"/>
      <pc:docMkLst>
        <pc:docMk/>
      </pc:docMkLst>
      <pc:sldChg chg="addSp modSp mod">
        <pc:chgData name="Srijan Bojja" userId="9dd9b8128eec74f3" providerId="LiveId" clId="{1FFEEFEF-D932-402B-875C-EA502E1000FD}" dt="2026-08-29T13:57:17.675" v="725" actId="1076"/>
        <pc:sldMkLst>
          <pc:docMk/>
          <pc:sldMk cId="1843937772" sldId="257"/>
        </pc:sldMkLst>
        <pc:spChg chg="add mod">
          <ac:chgData name="Srijan Bojja" userId="9dd9b8128eec74f3" providerId="LiveId" clId="{1FFEEFEF-D932-402B-875C-EA502E1000FD}" dt="2026-08-29T13:57:17.675" v="725" actId="1076"/>
          <ac:spMkLst>
            <pc:docMk/>
            <pc:sldMk cId="1843937772" sldId="257"/>
            <ac:spMk id="5" creationId="{A109F851-C121-6761-0E1E-86D2963267A8}"/>
          </ac:spMkLst>
        </pc:spChg>
      </pc:sldChg>
      <pc:sldChg chg="addSp modSp mod">
        <pc:chgData name="Srijan Bojja" userId="9dd9b8128eec74f3" providerId="LiveId" clId="{1FFEEFEF-D932-402B-875C-EA502E1000FD}" dt="2026-08-29T13:58:51.965" v="739" actId="1076"/>
        <pc:sldMkLst>
          <pc:docMk/>
          <pc:sldMk cId="2065876014" sldId="258"/>
        </pc:sldMkLst>
        <pc:spChg chg="add mod">
          <ac:chgData name="Srijan Bojja" userId="9dd9b8128eec74f3" providerId="LiveId" clId="{1FFEEFEF-D932-402B-875C-EA502E1000FD}" dt="2026-08-29T13:58:51.965" v="739" actId="1076"/>
          <ac:spMkLst>
            <pc:docMk/>
            <pc:sldMk cId="2065876014" sldId="258"/>
            <ac:spMk id="5" creationId="{9E3A3C70-AE75-C30E-2D3B-82FA8431DCD9}"/>
          </ac:spMkLst>
        </pc:spChg>
      </pc:sldChg>
      <pc:sldChg chg="addSp modSp mod">
        <pc:chgData name="Srijan Bojja" userId="9dd9b8128eec74f3" providerId="LiveId" clId="{1FFEEFEF-D932-402B-875C-EA502E1000FD}" dt="2026-09-02T03:22:42.967" v="847" actId="20577"/>
        <pc:sldMkLst>
          <pc:docMk/>
          <pc:sldMk cId="3524135319" sldId="259"/>
        </pc:sldMkLst>
        <pc:spChg chg="add mod">
          <ac:chgData name="Srijan Bojja" userId="9dd9b8128eec74f3" providerId="LiveId" clId="{1FFEEFEF-D932-402B-875C-EA502E1000FD}" dt="2026-09-02T03:22:42.967" v="847" actId="20577"/>
          <ac:spMkLst>
            <pc:docMk/>
            <pc:sldMk cId="3524135319" sldId="259"/>
            <ac:spMk id="5" creationId="{B4656452-A85C-FB46-4713-B6931E0ADC4F}"/>
          </ac:spMkLst>
        </pc:spChg>
      </pc:sldChg>
      <pc:sldChg chg="addSp delSp modSp mod">
        <pc:chgData name="Srijan Bojja" userId="9dd9b8128eec74f3" providerId="LiveId" clId="{1FFEEFEF-D932-402B-875C-EA502E1000FD}" dt="2026-08-29T14:01:50.370" v="786" actId="12"/>
        <pc:sldMkLst>
          <pc:docMk/>
          <pc:sldMk cId="4118855268" sldId="260"/>
        </pc:sldMkLst>
        <pc:spChg chg="add mod">
          <ac:chgData name="Srijan Bojja" userId="9dd9b8128eec74f3" providerId="LiveId" clId="{1FFEEFEF-D932-402B-875C-EA502E1000FD}" dt="2026-08-29T14:01:50.370" v="786" actId="12"/>
          <ac:spMkLst>
            <pc:docMk/>
            <pc:sldMk cId="4118855268" sldId="260"/>
            <ac:spMk id="5" creationId="{04E38E67-9225-6B86-410B-4EF0BA909760}"/>
          </ac:spMkLst>
        </pc:spChg>
      </pc:sldChg>
      <pc:sldChg chg="modSp mod">
        <pc:chgData name="Srijan Bojja" userId="9dd9b8128eec74f3" providerId="LiveId" clId="{1FFEEFEF-D932-402B-875C-EA502E1000FD}" dt="2026-09-02T03:15:12.802" v="842" actId="20577"/>
        <pc:sldMkLst>
          <pc:docMk/>
          <pc:sldMk cId="2247602601" sldId="262"/>
        </pc:sldMkLst>
        <pc:spChg chg="mod">
          <ac:chgData name="Srijan Bojja" userId="9dd9b8128eec74f3" providerId="LiveId" clId="{1FFEEFEF-D932-402B-875C-EA502E1000FD}" dt="2026-08-29T14:07:14.319" v="799" actId="20577"/>
          <ac:spMkLst>
            <pc:docMk/>
            <pc:sldMk cId="2247602601" sldId="262"/>
            <ac:spMk id="14" creationId="{DD4CF64F-3FB6-0CE4-B778-63C5D5A1D343}"/>
          </ac:spMkLst>
        </pc:spChg>
        <pc:spChg chg="mod">
          <ac:chgData name="Srijan Bojja" userId="9dd9b8128eec74f3" providerId="LiveId" clId="{1FFEEFEF-D932-402B-875C-EA502E1000FD}" dt="2026-08-29T04:42:51.817" v="722" actId="20577"/>
          <ac:spMkLst>
            <pc:docMk/>
            <pc:sldMk cId="2247602601" sldId="262"/>
            <ac:spMk id="16" creationId="{500C0830-A1CA-96AE-68D2-18C57ABE4802}"/>
          </ac:spMkLst>
        </pc:spChg>
        <pc:spChg chg="mod">
          <ac:chgData name="Srijan Bojja" userId="9dd9b8128eec74f3" providerId="LiveId" clId="{1FFEEFEF-D932-402B-875C-EA502E1000FD}" dt="2026-08-26T16:55:54.903" v="712" actId="20577"/>
          <ac:spMkLst>
            <pc:docMk/>
            <pc:sldMk cId="2247602601" sldId="262"/>
            <ac:spMk id="34" creationId="{C1554CCE-4DF8-89E6-E0F6-3C2A1439C7FA}"/>
          </ac:spMkLst>
        </pc:spChg>
        <pc:grpChg chg="mod">
          <ac:chgData name="Srijan Bojja" userId="9dd9b8128eec74f3" providerId="LiveId" clId="{1FFEEFEF-D932-402B-875C-EA502E1000FD}" dt="2026-08-26T16:50:38.661" v="434" actId="1076"/>
          <ac:grpSpMkLst>
            <pc:docMk/>
            <pc:sldMk cId="2247602601" sldId="262"/>
            <ac:grpSpMk id="21" creationId="{B5A8CA37-C090-A9D8-75D0-A7A7D5DEBE24}"/>
          </ac:grpSpMkLst>
        </pc:grpChg>
        <pc:graphicFrameChg chg="mod modGraphic">
          <ac:chgData name="Srijan Bojja" userId="9dd9b8128eec74f3" providerId="LiveId" clId="{1FFEEFEF-D932-402B-875C-EA502E1000FD}" dt="2026-09-02T03:15:12.802" v="842" actId="20577"/>
          <ac:graphicFrameMkLst>
            <pc:docMk/>
            <pc:sldMk cId="2247602601" sldId="262"/>
            <ac:graphicFrameMk id="18" creationId="{BD22BC4D-4857-7D81-7819-37B7BB426420}"/>
          </ac:graphicFrameMkLst>
        </pc:graphicFrameChg>
        <pc:graphicFrameChg chg="mod modGraphic">
          <ac:chgData name="Srijan Bojja" userId="9dd9b8128eec74f3" providerId="LiveId" clId="{1FFEEFEF-D932-402B-875C-EA502E1000FD}" dt="2026-08-26T16:53:44.073" v="598" actId="20577"/>
          <ac:graphicFrameMkLst>
            <pc:docMk/>
            <pc:sldMk cId="2247602601" sldId="262"/>
            <ac:graphicFrameMk id="30" creationId="{9091FADF-77DB-CB1D-CD72-56C53CF76308}"/>
          </ac:graphicFrameMkLst>
        </pc:graphicFrameChg>
      </pc:sldChg>
      <pc:sldChg chg="modSp mod">
        <pc:chgData name="Srijan Bojja" userId="9dd9b8128eec74f3" providerId="LiveId" clId="{1FFEEFEF-D932-402B-875C-EA502E1000FD}" dt="2026-08-29T13:58:17.958" v="735" actId="255"/>
        <pc:sldMkLst>
          <pc:docMk/>
          <pc:sldMk cId="3029277067" sldId="902"/>
        </pc:sldMkLst>
        <pc:graphicFrameChg chg="mod modGraphic">
          <ac:chgData name="Srijan Bojja" userId="9dd9b8128eec74f3" providerId="LiveId" clId="{1FFEEFEF-D932-402B-875C-EA502E1000FD}" dt="2026-08-29T13:58:17.958" v="735" actId="255"/>
          <ac:graphicFrameMkLst>
            <pc:docMk/>
            <pc:sldMk cId="3029277067" sldId="902"/>
            <ac:graphicFrameMk id="4" creationId="{AACD11AD-3AF5-B626-2B60-0567E4585BB7}"/>
          </ac:graphicFrameMkLst>
        </pc:graphicFrameChg>
      </pc:sldChg>
      <pc:sldChg chg="addSp modSp mod">
        <pc:chgData name="Srijan Bojja" userId="9dd9b8128eec74f3" providerId="LiveId" clId="{1FFEEFEF-D932-402B-875C-EA502E1000FD}" dt="2026-09-02T03:26:26.826" v="868" actId="20577"/>
        <pc:sldMkLst>
          <pc:docMk/>
          <pc:sldMk cId="3917782940" sldId="903"/>
        </pc:sldMkLst>
        <pc:spChg chg="add mod">
          <ac:chgData name="Srijan Bojja" userId="9dd9b8128eec74f3" providerId="LiveId" clId="{1FFEEFEF-D932-402B-875C-EA502E1000FD}" dt="2026-09-02T03:26:26.826" v="868" actId="20577"/>
          <ac:spMkLst>
            <pc:docMk/>
            <pc:sldMk cId="3917782940" sldId="903"/>
            <ac:spMk id="5" creationId="{B2056429-62EE-8352-0370-1A0D825E325A}"/>
          </ac:spMkLst>
        </pc:spChg>
      </pc:sldChg>
      <pc:sldChg chg="addSp delSp modSp add mod">
        <pc:chgData name="Srijan Bojja" userId="9dd9b8128eec74f3" providerId="LiveId" clId="{1FFEEFEF-D932-402B-875C-EA502E1000FD}" dt="2026-08-29T14:03:54.108" v="792" actId="27614"/>
        <pc:sldMkLst>
          <pc:docMk/>
          <pc:sldMk cId="826638660" sldId="904"/>
        </pc:sldMkLst>
        <pc:picChg chg="add mod">
          <ac:chgData name="Srijan Bojja" userId="9dd9b8128eec74f3" providerId="LiveId" clId="{1FFEEFEF-D932-402B-875C-EA502E1000FD}" dt="2026-08-29T14:03:54.108" v="792" actId="27614"/>
          <ac:picMkLst>
            <pc:docMk/>
            <pc:sldMk cId="826638660" sldId="904"/>
            <ac:picMk id="8" creationId="{DDA2E96B-E74B-A3F9-4E03-15B6C3CD520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5F904-3F1F-4281-A9E1-C2FB746B8BF7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6EA9-74F4-419E-9686-C1380811218E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6D309-B4D5-4527-B36F-A10579509D53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5E381-5B31-4AF8-B2D5-825A2871D21A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F223-DE04-43B3-A1CA-82C024222846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C939F-6452-40B3-8B30-A5C8AB6A0DFC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3805D-913B-4F6D-902C-E5136FBF0E0C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5B214-4124-49D8-A24E-DBA27A6445C3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956CC-F7C8-47FB-89A1-FBAE32B2A8EB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10B40-B78B-4C4B-BDCF-3CB98651AC41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C7294-1103-4E07-87C3-AC60860F3AE3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91251-3688-4348-9E3A-30E567D55C4D}" type="datetime1">
              <a:rPr lang="en-US" smtClean="0"/>
              <a:t>9/2/2026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DBFDF-CDE2-40CB-8FA4-3CBB1CF54A9D}" type="datetime1">
              <a:rPr lang="en-US" smtClean="0"/>
              <a:t>9/2/2026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7594-F345-470B-9851-AAB51F8A07D1}" type="datetime1">
              <a:rPr lang="en-US" smtClean="0"/>
              <a:t>9/2/2026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4D82-1E80-4D9B-9F48-1603FF32D29B}" type="datetime1">
              <a:rPr lang="en-US" smtClean="0"/>
              <a:t>9/2/2026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91D6D-4517-4318-8E63-BA647FC73676}" type="datetime1">
              <a:rPr lang="en-US" smtClean="0"/>
              <a:t>9/2/2026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BE11-45C9-4A33-91D6-F834346F8230}" type="datetime1">
              <a:rPr lang="en-US" smtClean="0"/>
              <a:t>9/2/2026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F475-35D2-4DB4-B393-F0CB7E443F34}" type="datetime1">
              <a:rPr lang="en-US" smtClean="0"/>
              <a:t>9/2/2026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F7173-3C06-4909-B7DB-53FA6C1C449E}" type="datetime1">
              <a:rPr lang="en-US" smtClean="0"/>
              <a:t>9/2/2026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B61D-E795-4B3F-91F2-8D80F4704BCD}" type="datetime1">
              <a:rPr lang="en-US" smtClean="0"/>
              <a:t>9/2/2026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192F9-85A8-474E-9101-6E509395F1D7}" type="datetime1">
              <a:rPr lang="en-US" smtClean="0"/>
              <a:t>9/2/2026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A09B4-E520-4CE3-B3CD-968466114F87}" type="datetime1">
              <a:rPr lang="en-US" smtClean="0"/>
              <a:t>9/2/2026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BE44B-A080-444E-B2F8-66835D348D22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F9358-0389-4EC9-8C09-403CD6E20950}" type="datetime1">
              <a:rPr lang="en-US" smtClean="0"/>
              <a:t>9/2/2026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29-08-26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174584"/>
              </p:ext>
            </p:extLst>
          </p:nvPr>
        </p:nvGraphicFramePr>
        <p:xfrm>
          <a:off x="7250590" y="4882055"/>
          <a:ext cx="4438648" cy="12421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38648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2421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PRANAV MAHAJAN-2420030727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B.SRIJAN-2420030201       </a:t>
                      </a:r>
                      <a:endParaRPr lang="en-IN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7135470" y="466131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479435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IN" sz="1400" b="1" dirty="0"/>
                        <a:t>Dr. Patha Srilatha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Associate Professor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CSE,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51D8D-77C0-43B9-9B5F-E46EDA00679A}" type="datetime1">
              <a:rPr lang="en-US" b="1" smtClean="0"/>
              <a:t>9/2/2026</a:t>
            </a:fld>
            <a:r>
              <a:rPr lang="en-US" b="1" dirty="0"/>
              <a:t> 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CNAD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538061" y="785033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 Management Platform Using Cloud-Native Microservices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38175" y="2199745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C1F5F2-ECD8-4C6D-ADBC-EC676B29AED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9/2/2026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CNAD Project Review-1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22E8B8-54AE-F861-D576-B62C19A55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E259-4615-46D4-A3BD-7CF5E55937D6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DF040-570B-E40C-28DD-48ACF4776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450DC-5C76-3221-3705-A7713237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3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B58DBC-97DD-CAE2-6032-D8BF2561F46C}"/>
              </a:ext>
            </a:extLst>
          </p:cNvPr>
          <p:cNvSpPr/>
          <p:nvPr/>
        </p:nvSpPr>
        <p:spPr>
          <a:xfrm>
            <a:off x="3834920" y="136525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09F851-C121-6761-0E1E-86D2963267A8}"/>
              </a:ext>
            </a:extLst>
          </p:cNvPr>
          <p:cNvSpPr txBox="1"/>
          <p:nvPr/>
        </p:nvSpPr>
        <p:spPr>
          <a:xfrm>
            <a:off x="546754" y="1184050"/>
            <a:ext cx="11425287" cy="4388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 Statement</a:t>
            </a:r>
          </a:p>
          <a:p>
            <a:r>
              <a:rPr lang="en-IN" dirty="0"/>
              <a:t>Modern educational institutions manage multiple campus activities such as </a:t>
            </a:r>
            <a:r>
              <a:rPr lang="en-IN" b="1" dirty="0"/>
              <a:t>student information, attendance, academics, faculty services, events, transport, facilities, and communication</a:t>
            </a:r>
            <a:r>
              <a:rPr lang="en-IN" dirty="0"/>
              <a:t>.</a:t>
            </a:r>
          </a:p>
          <a:p>
            <a:r>
              <a:rPr lang="en-IN" dirty="0"/>
              <a:t>However, these services are often maintained through separate applications and databases, making it difficult to: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Integrate different campus services into a single platform.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Provide real-time access to campus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Handle increasing numbers of students, faculty, and administrative users.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Scale individual services based on demand.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Maintain reliable communication between different campus modules.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Monitor system health and service availability.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Secure sensitive student and institutional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Update or deploy individual services without affecting the entire application. </a:t>
            </a:r>
          </a:p>
          <a:p>
            <a:r>
              <a:rPr lang="en-IN" b="1" dirty="0"/>
              <a:t>Therefore:</a:t>
            </a:r>
          </a:p>
          <a:p>
            <a:r>
              <a:rPr lang="en-IN" dirty="0"/>
              <a:t>There is a need for a </a:t>
            </a:r>
            <a:r>
              <a:rPr lang="en-IN" b="1" dirty="0"/>
              <a:t>unified, scalable, secure, and highly available Smart Campus Management Platform</a:t>
            </a:r>
            <a:r>
              <a:rPr lang="en-IN" dirty="0"/>
              <a:t> that uses </a:t>
            </a:r>
            <a:r>
              <a:rPr lang="en-IN" b="1" dirty="0"/>
              <a:t>cloud-native microservices</a:t>
            </a:r>
            <a:r>
              <a:rPr lang="en-IN" dirty="0"/>
              <a:t> to independently manage and integrate different campus services.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1EEFAC-0ECA-A18F-A4B4-033D37111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99FE-9025-4738-A866-75F92FF5600E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4FD4BC-7EB9-607E-38E4-8C64E6E11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C535C-1312-10F3-FBDA-B7001433D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4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DE4BBA-6735-AAC4-BA57-E76FE3B3CF7A}"/>
              </a:ext>
            </a:extLst>
          </p:cNvPr>
          <p:cNvSpPr/>
          <p:nvPr/>
        </p:nvSpPr>
        <p:spPr>
          <a:xfrm>
            <a:off x="3845080" y="122680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56429-62EE-8352-0370-1A0D825E325A}"/>
              </a:ext>
            </a:extLst>
          </p:cNvPr>
          <p:cNvSpPr txBox="1"/>
          <p:nvPr/>
        </p:nvSpPr>
        <p:spPr>
          <a:xfrm>
            <a:off x="496478" y="906601"/>
            <a:ext cx="1119904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1. Centralized Campus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Develop a unified platform to manage major campus services such as student management, attendance, academics, events, and facilities using microservices.</a:t>
            </a:r>
          </a:p>
          <a:p>
            <a:r>
              <a:rPr lang="en-IN" b="1" dirty="0"/>
              <a:t>2. Microservices-Based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Design independent microservices for different campus functions so that each service can be developed, deployed, maintained, and scaled independently.</a:t>
            </a:r>
          </a:p>
          <a:p>
            <a:r>
              <a:rPr lang="en-IN" b="1" dirty="0"/>
              <a:t>3. Cloud-Native Scalability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Utilize cloud-native technologies such as </a:t>
            </a:r>
            <a:r>
              <a:rPr lang="en-IN" b="1" dirty="0"/>
              <a:t>containers, APIs, service communication, and orchestration</a:t>
            </a:r>
            <a:r>
              <a:rPr lang="en-IN" dirty="0"/>
              <a:t> to support increasing campus workloads.</a:t>
            </a:r>
          </a:p>
          <a:p>
            <a:r>
              <a:rPr lang="en-IN" b="1" dirty="0"/>
              <a:t>4. Real-Time Information &amp; Notifications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Provide students, faculty, and administrators with real-time updates regarding attendance, announcements, events, schedules, and campus services.</a:t>
            </a:r>
          </a:p>
          <a:p>
            <a:r>
              <a:rPr lang="en-IN" b="1" dirty="0"/>
              <a:t>5. Secure Role-Based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Implement authentication and authorization based on user roles such as </a:t>
            </a:r>
            <a:r>
              <a:rPr lang="en-IN" b="1" dirty="0"/>
              <a:t>Student, Faculty, and Administrator</a:t>
            </a:r>
            <a:r>
              <a:rPr lang="en-IN" dirty="0"/>
              <a:t>.</a:t>
            </a:r>
          </a:p>
          <a:p>
            <a:r>
              <a:rPr lang="en-IN" b="1" dirty="0"/>
              <a:t>6. Monitoring &amp; 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Monitor individual services and system performance to detect failures and maintain high availability.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 manual processes and provide a convenient digital platform for students, faculty, and administrators.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2338474"/>
              </p:ext>
            </p:extLst>
          </p:nvPr>
        </p:nvGraphicFramePr>
        <p:xfrm>
          <a:off x="274646" y="689466"/>
          <a:ext cx="11642705" cy="470833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Authors / Source</a:t>
                      </a:r>
                      <a:endParaRPr lang="en-IN" sz="12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Title / Area</a:t>
                      </a:r>
                      <a:endParaRPr lang="en-IN" sz="12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Methodology</a:t>
                      </a:r>
                      <a:endParaRPr lang="en-IN" sz="12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Inferences</a:t>
                      </a:r>
                      <a:endParaRPr lang="en-IN" sz="12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Limitation / Future Work</a:t>
                      </a:r>
                      <a:endParaRPr lang="en-IN" sz="12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Newman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Building Microservices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Microservices architectural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Independent services improve modularity, scalability, and maintainability.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Microservices introduce communication and deployment complexity.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Richardson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Microservices Patterns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Architectural patterns for distributed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API gateways, service discovery, database-per-service and event-driven communication support microservice systems.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Requires careful service design and monitoring.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Cloud Computing / Cloud-Native Concepts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Cloud architecture and security guidelines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Cloud platforms provide scalability, resource flexibility, and availability.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Requires appropriate security and resource management.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2E2B-EEBE-417C-831B-9A36F38228DC}" type="datetime1">
              <a:rPr lang="en-US" smtClean="0"/>
              <a:t>9/2/2026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04399D-42EB-45BD-D43F-A5AE14D447C0}"/>
              </a:ext>
            </a:extLst>
          </p:cNvPr>
          <p:cNvSpPr/>
          <p:nvPr/>
        </p:nvSpPr>
        <p:spPr>
          <a:xfrm>
            <a:off x="3773960" y="28819"/>
            <a:ext cx="4105120" cy="59373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EF7CC6-A232-6F78-D877-F4139E33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076-AD1E-4D44-9D37-ACCF737AE8A4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1B73B0-000A-32FB-5643-CD5676D4A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1E0BD-2CF1-90B0-91FF-80A6376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6</a:t>
            </a:fld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00B50F-4223-2213-E4CD-57D228BCA0B6}"/>
              </a:ext>
            </a:extLst>
          </p:cNvPr>
          <p:cNvSpPr/>
          <p:nvPr/>
        </p:nvSpPr>
        <p:spPr>
          <a:xfrm>
            <a:off x="3352320" y="268328"/>
            <a:ext cx="525828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Gap Identification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3A3C70-AE75-C30E-2D3B-82FA8431DCD9}"/>
              </a:ext>
            </a:extLst>
          </p:cNvPr>
          <p:cNvSpPr txBox="1"/>
          <p:nvPr/>
        </p:nvSpPr>
        <p:spPr>
          <a:xfrm>
            <a:off x="501192" y="1127404"/>
            <a:ext cx="1118961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1. Fragmented Campus Services — Primary Focus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Traditional campus applications often manage individual functions separately, such as: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Student management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Attendance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Academics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Events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Facilities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Communication </a:t>
            </a:r>
          </a:p>
          <a:p>
            <a:r>
              <a:rPr lang="en-IN" dirty="0"/>
              <a:t>There is a need for a </a:t>
            </a:r>
            <a:r>
              <a:rPr lang="en-IN" b="1" dirty="0"/>
              <a:t>unified platform</a:t>
            </a:r>
            <a:r>
              <a:rPr lang="en-IN" dirty="0"/>
              <a:t> where these services can communicate efficiently while remaining independently manageable.</a:t>
            </a:r>
          </a:p>
          <a:p>
            <a:r>
              <a:rPr lang="en-IN" b="1" dirty="0"/>
              <a:t>2. Scalability &amp; Availability — Secondary Focus</a:t>
            </a:r>
          </a:p>
          <a:p>
            <a:r>
              <a:rPr lang="en-IN" dirty="0"/>
              <a:t>Monolithic applications can become difficult to scale when the number of users and transactions increases.</a:t>
            </a:r>
          </a:p>
          <a:p>
            <a:r>
              <a:rPr lang="en-IN" dirty="0"/>
              <a:t>There is a need for an architecture where individual services can be </a:t>
            </a:r>
            <a:r>
              <a:rPr lang="en-IN" b="1" dirty="0"/>
              <a:t>independently scaled and deployed</a:t>
            </a:r>
            <a:r>
              <a:rPr lang="en-IN" dirty="0"/>
              <a:t> according to demand.</a:t>
            </a:r>
          </a:p>
          <a:p>
            <a:r>
              <a:rPr lang="en-IN" b="1" dirty="0"/>
              <a:t>Proposed Gap Addressed</a:t>
            </a:r>
          </a:p>
          <a:p>
            <a:r>
              <a:rPr lang="en-IN" dirty="0"/>
              <a:t>The proposed </a:t>
            </a:r>
            <a:r>
              <a:rPr lang="en-IN" b="1" dirty="0"/>
              <a:t>Smart Campus Management Platform</a:t>
            </a:r>
            <a:r>
              <a:rPr lang="en-IN" dirty="0"/>
              <a:t> addresses these gaps by using a </a:t>
            </a:r>
            <a:r>
              <a:rPr lang="en-IN" b="1" dirty="0"/>
              <a:t>cloud-native microservices architecture</a:t>
            </a:r>
            <a:r>
              <a:rPr lang="en-IN" dirty="0"/>
              <a:t> that integrates campus services while providing scalability, modularity, security, and reliability.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8788A6-87D6-D1AD-CD09-882273D2C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8917A-4773-4F0C-BADF-AB7FA9859A31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4A259-1A89-35BF-04C0-AB6DECF4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5C214-DB26-4476-F790-7E558BB67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7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FE5EF9-EC7B-4BF5-92FE-E68EC6C8C5B2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Innovation, Creativity, and Novelty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56452-A85C-FB46-4713-B6931E0ADC4F}"/>
              </a:ext>
            </a:extLst>
          </p:cNvPr>
          <p:cNvSpPr txBox="1"/>
          <p:nvPr/>
        </p:nvSpPr>
        <p:spPr>
          <a:xfrm>
            <a:off x="348792" y="942680"/>
            <a:ext cx="1151012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1. Microservices-Based Smart Campus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Campus functions are divided into independent services such as Student, Attendance, Academic, Event, Notification, and Facility Management.</a:t>
            </a:r>
          </a:p>
          <a:p>
            <a:r>
              <a:rPr lang="en-IN" b="1" dirty="0"/>
              <a:t>2. Independent Scalability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Each microservice can be scaled independently based on its workload instead of scaling the complete application.</a:t>
            </a:r>
          </a:p>
          <a:p>
            <a:r>
              <a:rPr lang="en-IN" b="1" dirty="0"/>
              <a:t>3. API Gateway-Based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centralized API Gateway provides a common entry point for users and manages communication between clients and backend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platform provides customized functionality for based on their roles and permissions: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b="1" dirty="0"/>
              <a:t>Student → Faculty → Administrator</a:t>
            </a:r>
            <a:endParaRPr lang="en-IN" dirty="0"/>
          </a:p>
          <a:p>
            <a:r>
              <a:rPr lang="en-IN" b="1" dirty="0"/>
              <a:t>4. Centralized Monitoring</a:t>
            </a:r>
          </a:p>
          <a:p>
            <a:r>
              <a:rPr lang="en-IN" dirty="0"/>
              <a:t>Service health, performance, errors, and availability can be monitored across the microservices environment and Failure of one service should not bring down the entire campus platform, improving system reliability.</a:t>
            </a:r>
          </a:p>
          <a:p>
            <a:r>
              <a:rPr lang="en-IN" b="1" dirty="0"/>
              <a:t>5. Cloud-Native Deployment</a:t>
            </a:r>
          </a:p>
          <a:p>
            <a:r>
              <a:rPr lang="en-IN" dirty="0"/>
              <a:t>Containerization and orchestration can be used to deploy and manage services efficiently in a cloud environment.</a:t>
            </a:r>
          </a:p>
          <a:p>
            <a:r>
              <a:rPr lang="en-IN" b="1" dirty="0"/>
              <a:t>Proposed Workflow</a:t>
            </a:r>
          </a:p>
          <a:p>
            <a:r>
              <a:rPr lang="en-IN" b="1" dirty="0"/>
              <a:t>User Request → API Gateway → Microservice → Database / Service → Response → Notification / Monitoring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AFF3A1-5C1B-139E-D79A-72B884780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ED1E-D5CF-4737-9463-A65281469B97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EC70D-1363-E80E-D957-B7196CB13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1C404-5E3A-5943-D47B-EDA9706D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8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A611A3-C40B-C4D0-FC5B-A6E3CFDFC96B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Project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E38E67-9225-6B86-410B-4EF0BA909760}"/>
              </a:ext>
            </a:extLst>
          </p:cNvPr>
          <p:cNvSpPr txBox="1"/>
          <p:nvPr/>
        </p:nvSpPr>
        <p:spPr>
          <a:xfrm>
            <a:off x="452487" y="1018095"/>
            <a:ext cx="1124617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Technical Feasibility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Microservices can be implemented using technologies such as </a:t>
            </a:r>
            <a:r>
              <a:rPr lang="en-IN" b="1" dirty="0"/>
              <a:t>Java Spring Boot / Node.js / Python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REST APIs can enable communication between services.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Docker can be used for containerization.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Kubernetes can be used for container orchestration.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Cloud platforms can provide deployment and scalability. </a:t>
            </a:r>
          </a:p>
          <a:p>
            <a:r>
              <a:rPr lang="en-IN" b="1" dirty="0"/>
              <a:t>Operational Feasibility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Students can access campus services through a centralized interface.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Faculty can manage academic and student-related activities.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Administrators can monitor and manage campus operations. </a:t>
            </a:r>
          </a:p>
          <a:p>
            <a:r>
              <a:rPr lang="en-IN" b="1" dirty="0"/>
              <a:t>Economic Feasibility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Open-source technologies can reduce development costs.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Cloud resources can be scaled according to actual requirements.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Independent services reduce the cost and risk of modifying the complete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6CB30-9554-E7FF-7A4C-76A15B603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26930D-2C4E-BD95-FE1A-BCB7D5A17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276512-42C0-F62D-1C5E-CFEDF9619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ED1E-D5CF-4737-9463-A65281469B97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0E9FD-3D2A-9AC9-1959-80C9002A0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E95C9-C22B-5A2E-4E6E-F5B70B303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9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621F3D-9253-A684-E207-5C1A09B39517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Project Plan</a:t>
            </a:r>
          </a:p>
        </p:txBody>
      </p:sp>
      <p:pic>
        <p:nvPicPr>
          <p:cNvPr id="8" name="Picture 7" descr="The image is a timeline chart for a project, outlining the various phases and activities over a span of 14 weeks.&#10;&#10;AI-generated content may be incorrect.">
            <a:extLst>
              <a:ext uri="{FF2B5EF4-FFF2-40B4-BE49-F238E27FC236}">
                <a16:creationId xmlns:a16="http://schemas.microsoft.com/office/drawing/2014/main" id="{DDA2E96B-E74B-A3F9-4E03-15B6C3CD5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91" y="1005486"/>
            <a:ext cx="10662250" cy="482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638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939</Words>
  <Application>Microsoft Office PowerPoint</Application>
  <PresentationFormat>Widescreen</PresentationFormat>
  <Paragraphs>159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Courier New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Srijan Bojja</cp:lastModifiedBy>
  <cp:revision>36</cp:revision>
  <dcterms:created xsi:type="dcterms:W3CDTF">2026-08-08T06:33:56Z</dcterms:created>
  <dcterms:modified xsi:type="dcterms:W3CDTF">2026-09-02T03:26:31Z</dcterms:modified>
</cp:coreProperties>
</file>