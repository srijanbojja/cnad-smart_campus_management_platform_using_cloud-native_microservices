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2"/>
  </p:notesMasterIdLst>
  <p:sldIdLst>
    <p:sldId id="262" r:id="rId3"/>
    <p:sldId id="707" r:id="rId4"/>
    <p:sldId id="257" r:id="rId5"/>
    <p:sldId id="903" r:id="rId6"/>
    <p:sldId id="902" r:id="rId7"/>
    <p:sldId id="258" r:id="rId8"/>
    <p:sldId id="259" r:id="rId9"/>
    <p:sldId id="260" r:id="rId10"/>
    <p:sldId id="90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2" d="100"/>
          <a:sy n="92" d="100"/>
        </p:scale>
        <p:origin x="859" y="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rijan Bojja" userId="9dd9b8128eec74f3" providerId="LiveId" clId="{1FFEEFEF-D932-402B-875C-EA502E1000FD}"/>
    <pc:docChg chg="undo custSel addSld modSld">
      <pc:chgData name="Srijan Bojja" userId="9dd9b8128eec74f3" providerId="LiveId" clId="{1FFEEFEF-D932-402B-875C-EA502E1000FD}" dt="2026-09-23T03:21:21.045" v="870" actId="20577"/>
      <pc:docMkLst>
        <pc:docMk/>
      </pc:docMkLst>
      <pc:sldChg chg="addSp modSp mod">
        <pc:chgData name="Srijan Bojja" userId="9dd9b8128eec74f3" providerId="LiveId" clId="{1FFEEFEF-D932-402B-875C-EA502E1000FD}" dt="2026-08-29T13:57:17.675" v="725" actId="1076"/>
        <pc:sldMkLst>
          <pc:docMk/>
          <pc:sldMk cId="1843937772" sldId="257"/>
        </pc:sldMkLst>
        <pc:spChg chg="add mod">
          <ac:chgData name="Srijan Bojja" userId="9dd9b8128eec74f3" providerId="LiveId" clId="{1FFEEFEF-D932-402B-875C-EA502E1000FD}" dt="2026-08-29T13:57:17.675" v="725" actId="1076"/>
          <ac:spMkLst>
            <pc:docMk/>
            <pc:sldMk cId="1843937772" sldId="257"/>
            <ac:spMk id="5" creationId="{A109F851-C121-6761-0E1E-86D2963267A8}"/>
          </ac:spMkLst>
        </pc:spChg>
      </pc:sldChg>
      <pc:sldChg chg="addSp modSp mod">
        <pc:chgData name="Srijan Bojja" userId="9dd9b8128eec74f3" providerId="LiveId" clId="{1FFEEFEF-D932-402B-875C-EA502E1000FD}" dt="2026-08-29T13:58:51.965" v="739" actId="1076"/>
        <pc:sldMkLst>
          <pc:docMk/>
          <pc:sldMk cId="2065876014" sldId="258"/>
        </pc:sldMkLst>
        <pc:spChg chg="add mod">
          <ac:chgData name="Srijan Bojja" userId="9dd9b8128eec74f3" providerId="LiveId" clId="{1FFEEFEF-D932-402B-875C-EA502E1000FD}" dt="2026-08-29T13:58:51.965" v="739" actId="1076"/>
          <ac:spMkLst>
            <pc:docMk/>
            <pc:sldMk cId="2065876014" sldId="258"/>
            <ac:spMk id="5" creationId="{9E3A3C70-AE75-C30E-2D3B-82FA8431DCD9}"/>
          </ac:spMkLst>
        </pc:spChg>
      </pc:sldChg>
      <pc:sldChg chg="addSp modSp mod">
        <pc:chgData name="Srijan Bojja" userId="9dd9b8128eec74f3" providerId="LiveId" clId="{1FFEEFEF-D932-402B-875C-EA502E1000FD}" dt="2026-09-02T03:22:42.967" v="847" actId="20577"/>
        <pc:sldMkLst>
          <pc:docMk/>
          <pc:sldMk cId="3524135319" sldId="259"/>
        </pc:sldMkLst>
        <pc:spChg chg="add mod">
          <ac:chgData name="Srijan Bojja" userId="9dd9b8128eec74f3" providerId="LiveId" clId="{1FFEEFEF-D932-402B-875C-EA502E1000FD}" dt="2026-09-02T03:22:42.967" v="847" actId="20577"/>
          <ac:spMkLst>
            <pc:docMk/>
            <pc:sldMk cId="3524135319" sldId="259"/>
            <ac:spMk id="5" creationId="{B4656452-A85C-FB46-4713-B6931E0ADC4F}"/>
          </ac:spMkLst>
        </pc:spChg>
      </pc:sldChg>
      <pc:sldChg chg="addSp delSp modSp mod">
        <pc:chgData name="Srijan Bojja" userId="9dd9b8128eec74f3" providerId="LiveId" clId="{1FFEEFEF-D932-402B-875C-EA502E1000FD}" dt="2026-08-29T14:01:50.370" v="786" actId="12"/>
        <pc:sldMkLst>
          <pc:docMk/>
          <pc:sldMk cId="4118855268" sldId="260"/>
        </pc:sldMkLst>
        <pc:spChg chg="add mod">
          <ac:chgData name="Srijan Bojja" userId="9dd9b8128eec74f3" providerId="LiveId" clId="{1FFEEFEF-D932-402B-875C-EA502E1000FD}" dt="2026-08-29T14:01:50.370" v="786" actId="12"/>
          <ac:spMkLst>
            <pc:docMk/>
            <pc:sldMk cId="4118855268" sldId="260"/>
            <ac:spMk id="5" creationId="{04E38E67-9225-6B86-410B-4EF0BA909760}"/>
          </ac:spMkLst>
        </pc:spChg>
      </pc:sldChg>
      <pc:sldChg chg="modSp mod">
        <pc:chgData name="Srijan Bojja" userId="9dd9b8128eec74f3" providerId="LiveId" clId="{1FFEEFEF-D932-402B-875C-EA502E1000FD}" dt="2026-09-23T03:21:21.045" v="870" actId="20577"/>
        <pc:sldMkLst>
          <pc:docMk/>
          <pc:sldMk cId="2247602601" sldId="262"/>
        </pc:sldMkLst>
        <pc:spChg chg="mod">
          <ac:chgData name="Srijan Bojja" userId="9dd9b8128eec74f3" providerId="LiveId" clId="{1FFEEFEF-D932-402B-875C-EA502E1000FD}" dt="2026-08-29T14:07:14.319" v="799" actId="20577"/>
          <ac:spMkLst>
            <pc:docMk/>
            <pc:sldMk cId="2247602601" sldId="262"/>
            <ac:spMk id="14" creationId="{DD4CF64F-3FB6-0CE4-B778-63C5D5A1D343}"/>
          </ac:spMkLst>
        </pc:spChg>
        <pc:spChg chg="mod">
          <ac:chgData name="Srijan Bojja" userId="9dd9b8128eec74f3" providerId="LiveId" clId="{1FFEEFEF-D932-402B-875C-EA502E1000FD}" dt="2026-08-29T04:42:51.817" v="722" actId="20577"/>
          <ac:spMkLst>
            <pc:docMk/>
            <pc:sldMk cId="2247602601" sldId="262"/>
            <ac:spMk id="16" creationId="{500C0830-A1CA-96AE-68D2-18C57ABE4802}"/>
          </ac:spMkLst>
        </pc:spChg>
        <pc:spChg chg="mod">
          <ac:chgData name="Srijan Bojja" userId="9dd9b8128eec74f3" providerId="LiveId" clId="{1FFEEFEF-D932-402B-875C-EA502E1000FD}" dt="2026-09-23T03:21:21.045" v="870" actId="20577"/>
          <ac:spMkLst>
            <pc:docMk/>
            <pc:sldMk cId="2247602601" sldId="262"/>
            <ac:spMk id="17" creationId="{D25BC1A0-FDE4-1557-375E-6E0BD69BC77B}"/>
          </ac:spMkLst>
        </pc:spChg>
        <pc:spChg chg="mod">
          <ac:chgData name="Srijan Bojja" userId="9dd9b8128eec74f3" providerId="LiveId" clId="{1FFEEFEF-D932-402B-875C-EA502E1000FD}" dt="2026-08-26T16:55:54.903" v="712" actId="20577"/>
          <ac:spMkLst>
            <pc:docMk/>
            <pc:sldMk cId="2247602601" sldId="262"/>
            <ac:spMk id="34" creationId="{C1554CCE-4DF8-89E6-E0F6-3C2A1439C7FA}"/>
          </ac:spMkLst>
        </pc:spChg>
        <pc:grpChg chg="mod">
          <ac:chgData name="Srijan Bojja" userId="9dd9b8128eec74f3" providerId="LiveId" clId="{1FFEEFEF-D932-402B-875C-EA502E1000FD}" dt="2026-08-26T16:50:38.661" v="434" actId="1076"/>
          <ac:grpSpMkLst>
            <pc:docMk/>
            <pc:sldMk cId="2247602601" sldId="262"/>
            <ac:grpSpMk id="21" creationId="{B5A8CA37-C090-A9D8-75D0-A7A7D5DEBE24}"/>
          </ac:grpSpMkLst>
        </pc:grpChg>
        <pc:graphicFrameChg chg="mod modGraphic">
          <ac:chgData name="Srijan Bojja" userId="9dd9b8128eec74f3" providerId="LiveId" clId="{1FFEEFEF-D932-402B-875C-EA502E1000FD}" dt="2026-09-02T03:15:12.802" v="842" actId="20577"/>
          <ac:graphicFrameMkLst>
            <pc:docMk/>
            <pc:sldMk cId="2247602601" sldId="262"/>
            <ac:graphicFrameMk id="18" creationId="{BD22BC4D-4857-7D81-7819-37B7BB426420}"/>
          </ac:graphicFrameMkLst>
        </pc:graphicFrameChg>
        <pc:graphicFrameChg chg="mod modGraphic">
          <ac:chgData name="Srijan Bojja" userId="9dd9b8128eec74f3" providerId="LiveId" clId="{1FFEEFEF-D932-402B-875C-EA502E1000FD}" dt="2026-08-26T16:53:44.073" v="598" actId="20577"/>
          <ac:graphicFrameMkLst>
            <pc:docMk/>
            <pc:sldMk cId="2247602601" sldId="262"/>
            <ac:graphicFrameMk id="30" creationId="{9091FADF-77DB-CB1D-CD72-56C53CF76308}"/>
          </ac:graphicFrameMkLst>
        </pc:graphicFrameChg>
      </pc:sldChg>
      <pc:sldChg chg="modSp mod">
        <pc:chgData name="Srijan Bojja" userId="9dd9b8128eec74f3" providerId="LiveId" clId="{1FFEEFEF-D932-402B-875C-EA502E1000FD}" dt="2026-08-29T13:58:17.958" v="735" actId="255"/>
        <pc:sldMkLst>
          <pc:docMk/>
          <pc:sldMk cId="3029277067" sldId="902"/>
        </pc:sldMkLst>
        <pc:graphicFrameChg chg="mod modGraphic">
          <ac:chgData name="Srijan Bojja" userId="9dd9b8128eec74f3" providerId="LiveId" clId="{1FFEEFEF-D932-402B-875C-EA502E1000FD}" dt="2026-08-29T13:58:17.958" v="735" actId="255"/>
          <ac:graphicFrameMkLst>
            <pc:docMk/>
            <pc:sldMk cId="3029277067" sldId="902"/>
            <ac:graphicFrameMk id="4" creationId="{AACD11AD-3AF5-B626-2B60-0567E4585BB7}"/>
          </ac:graphicFrameMkLst>
        </pc:graphicFrameChg>
      </pc:sldChg>
      <pc:sldChg chg="addSp modSp mod">
        <pc:chgData name="Srijan Bojja" userId="9dd9b8128eec74f3" providerId="LiveId" clId="{1FFEEFEF-D932-402B-875C-EA502E1000FD}" dt="2026-09-02T03:26:26.826" v="868" actId="20577"/>
        <pc:sldMkLst>
          <pc:docMk/>
          <pc:sldMk cId="3917782940" sldId="903"/>
        </pc:sldMkLst>
        <pc:spChg chg="add mod">
          <ac:chgData name="Srijan Bojja" userId="9dd9b8128eec74f3" providerId="LiveId" clId="{1FFEEFEF-D932-402B-875C-EA502E1000FD}" dt="2026-09-02T03:26:26.826" v="868" actId="20577"/>
          <ac:spMkLst>
            <pc:docMk/>
            <pc:sldMk cId="3917782940" sldId="903"/>
            <ac:spMk id="5" creationId="{B2056429-62EE-8352-0370-1A0D825E325A}"/>
          </ac:spMkLst>
        </pc:spChg>
      </pc:sldChg>
      <pc:sldChg chg="addSp delSp modSp add mod">
        <pc:chgData name="Srijan Bojja" userId="9dd9b8128eec74f3" providerId="LiveId" clId="{1FFEEFEF-D932-402B-875C-EA502E1000FD}" dt="2026-08-29T14:03:54.108" v="792" actId="27614"/>
        <pc:sldMkLst>
          <pc:docMk/>
          <pc:sldMk cId="826638660" sldId="904"/>
        </pc:sldMkLst>
        <pc:picChg chg="add mod">
          <ac:chgData name="Srijan Bojja" userId="9dd9b8128eec74f3" providerId="LiveId" clId="{1FFEEFEF-D932-402B-875C-EA502E1000FD}" dt="2026-08-29T14:03:54.108" v="792" actId="27614"/>
          <ac:picMkLst>
            <pc:docMk/>
            <pc:sldMk cId="826638660" sldId="904"/>
            <ac:picMk id="8" creationId="{DDA2E96B-E74B-A3F9-4E03-15B6C3CD5200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4B03022-1F30-4885-B78F-22C04F8A973E}" type="doc">
      <dgm:prSet loTypeId="urn:microsoft.com/office/officeart/2005/8/layout/venn3" loCatId="relationship" qsTypeId="urn:microsoft.com/office/officeart/2005/8/quickstyle/3d7#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4094C340-BA43-4FE7-BEDC-37D235AAAD16}" type="pres">
      <dgm:prSet presAssocID="{84B03022-1F30-4885-B78F-22C04F8A973E}" presName="Name0" presStyleCnt="0">
        <dgm:presLayoutVars>
          <dgm:dir/>
          <dgm:resizeHandles val="exact"/>
        </dgm:presLayoutVars>
      </dgm:prSet>
      <dgm:spPr/>
    </dgm:pt>
  </dgm:ptLst>
  <dgm:cxnLst>
    <dgm:cxn modelId="{536B444D-E965-4C7A-901B-8D59695FE972}" type="presOf" srcId="{84B03022-1F30-4885-B78F-22C04F8A973E}" destId="{4094C340-BA43-4FE7-BEDC-37D235AAAD16}" srcOrd="0" destOrd="0" presId="urn:microsoft.com/office/officeart/2005/8/layout/venn3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enn3">
  <dgm:title val=""/>
  <dgm:desc val=""/>
  <dgm:catLst>
    <dgm:cat type="relationship" pri="2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>
          <dgm:param type="fallback" val="2D"/>
        </dgm:alg>
      </dgm:if>
      <dgm:else name="Name3">
        <dgm:alg type="lin">
          <dgm:param type="fallback" val="2D"/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refType="w" refFor="ch" refPtType="node"/>
      <dgm:constr type="w" for="ch" forName="space" refType="w" refFor="ch" refPtType="node" fact="-0.2"/>
      <dgm:constr type="primFontSz" for="ch" ptType="node" op="equ" val="65"/>
    </dgm:constrLst>
    <dgm:ruleLst/>
    <dgm:forEach name="Name4" axis="ch" ptType="node">
      <dgm:layoutNode name="Name5" styleLbl="vennNode1">
        <dgm:varLst>
          <dgm:bulletEnabled val="1"/>
        </dgm:varLst>
        <dgm:alg type="tx">
          <dgm:param type="txAnchorVertCh" val="mid"/>
          <dgm:param type="txAnchorHorzCh" val="ctr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tMarg" refType="primFontSz" fact="0.1"/>
          <dgm:constr type="bMarg" refType="primFontSz" fact="0.1"/>
          <dgm:constr type="lMarg" refType="w" fact="0.156"/>
          <dgm:constr type="rMarg" refType="w" fact="0.156"/>
        </dgm:constrLst>
        <dgm:ruleLst>
          <dgm:rule type="primFontSz" val="5" fact="NaN" max="NaN"/>
        </dgm:ruleLst>
      </dgm:layoutNode>
      <dgm:forEach name="Name6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7#1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A666E0-C270-4F2D-A5DC-96BE795B540E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19044B-B5AF-477C-950C-4ED51263438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6060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E162C7A-CC9D-4035-A213-68F795EB7A2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7703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2BE77-A6B4-BF9A-F59F-6A1C17E6D4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F4D497-63DE-C270-40A4-331A37D0B0E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809C3A-1739-D230-186B-84454F605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5F904-3F1F-4281-A9E1-C2FB746B8BF7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A63778-C058-1235-D3A3-7BCFF3CD0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9A1708-DD63-B8A6-CDE5-A057B2CF8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86997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8A0280-1254-E679-102E-D8CC13C8C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784D78-2E62-1C74-D557-5115FDC295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B02B77-F303-2F09-80CB-35B74D2F58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1D6EA9-74F4-419E-9686-C1380811218E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3359BF-B012-085F-389A-331E721BC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B0460-9CE8-D43D-79E7-A7A9144A3A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1623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87D46-3DEF-526E-5F46-4ADACBEC0A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5A517A-D5B3-3AF2-38BE-1D89988138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602125-0289-3272-156D-A3C31E8482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6D309-B4D5-4527-B36F-A10579509D53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9971A6-CC5A-CC09-A1F2-E284284E8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898D5-FC90-9DA1-FE2F-D07DEDDAD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99524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9433-0D52-95EF-D78E-4FC912D4F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1A2DAE-6EF3-6910-5373-1A5DF4090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91AE70-38B9-B797-DE71-57CAE4C82D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25E50E-F402-07A4-460F-3431CA999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35E381-5B31-4AF8-B2D5-825A2871D21A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4D7A32-7B4B-0167-CBD3-4FB4F42F7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EB928D-DF00-B9C5-1A36-1E52C14C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98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1CFE06-EEED-5CC3-A38A-576DD2C8AF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B0BA8C-9EDE-BB49-BD35-49BAFCB8D3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1DDD39-7D2C-4493-F56F-81F6BC3F98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714469B-6213-D34D-07A9-FCDC82AC0F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46440F3-3F2D-85CC-D2E2-6D0D54B8A2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346DE1-9818-60AF-EAF8-FFED39BA5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58F223-DE04-43B3-A1CA-82C024222846}" type="datetime1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5E9E00-6460-F360-EDFD-B03FBA2C6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ABFFDD7-5BFE-EA3B-6250-A381A5695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2514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E0FC-511C-2C2C-E510-CDDF2634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C796671-3C71-777F-3A4D-A89D7E5D6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DC939F-6452-40B3-8B30-A5C8AB6A0DFC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0024A6A-95A8-2753-339B-FC09D4CAE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E07AF-B1A0-E180-D5AC-3F2F0031C9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2466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A8527A8-9BA5-6E6B-9B96-E6F6FADC4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3805D-913B-4F6D-902C-E5136FBF0E0C}" type="datetime1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AB8C98-6C07-7CF9-228C-EF7E6514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47070-DD15-038E-31F6-EF9EAD920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321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528049-15BD-A06B-510D-51342C765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77F51D-EFF8-F91B-8F7D-613493BF8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43686E-4EC3-3B25-F2B1-DEF00AA47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4C9A3-A390-80A1-50AD-21AB6B252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F5B214-4124-49D8-A24E-DBA27A6445C3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B16C-3A67-2F8D-2205-B1FF3BE2C6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137A69-0E62-6668-A184-42A6DBF6B0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4807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AFB01-3CD4-CFD9-5A71-411262FAAC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9DCEFF8-AB3F-42A6-ADAF-1080336CCB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14F7C-5D5A-7C5D-50F2-B5067E1E61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AE767C3-2493-217A-8E1D-03F6BBB4A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956CC-F7C8-47FB-89A1-FBAE32B2A8EB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8FEBF7-64BD-7F85-1240-C02E3705B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0064DB1-56E3-B1C9-BED9-904A25C294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2973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EBCD61-B1C9-A34D-6022-ADB9D4B22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24F7E8-10E7-E6C8-474D-2A06ED5015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E7D405-5D32-C40F-1430-5F5A97DD4F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F10B40-B78B-4C4B-BDCF-3CB98651AC41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D9955A-6D2E-8ABB-AF09-EC9590F01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9E1B21-A5D1-C625-FE7B-A0232576A6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78863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5699036-2042-AC93-5117-4059611F3CE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2DD23D-712F-710C-F8D8-B4B2B3E059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95516-E45F-6DA1-08EA-04E781DF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C7294-1103-4E07-87C3-AC60860F3AE3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171DB9-D5C7-9EFA-0532-06B0BAAF4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735D92-5A89-BE34-CC33-93F56B3EDB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7349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591251-3688-4348-9E3A-30E567D55C4D}" type="datetime1">
              <a:rPr lang="en-US" smtClean="0"/>
              <a:t>9/23/2026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602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9DBFDF-CDE2-40CB-8FA4-3CBB1CF54A9D}" type="datetime1">
              <a:rPr lang="en-US" smtClean="0"/>
              <a:t>9/23/2026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8298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877594-F345-470B-9851-AAB51F8A07D1}" type="datetime1">
              <a:rPr lang="en-US" smtClean="0"/>
              <a:t>9/23/2026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992301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114D82-1E80-4D9B-9F48-1603FF32D29B}" type="datetime1">
              <a:rPr lang="en-US" smtClean="0"/>
              <a:t>9/23/2026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19083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F91D6D-4517-4318-8E63-BA647FC73676}" type="datetime1">
              <a:rPr lang="en-US" smtClean="0"/>
              <a:t>9/23/2026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7848570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8BE11-45C9-4A33-91D6-F834346F8230}" type="datetime1">
              <a:rPr lang="en-US" smtClean="0"/>
              <a:t>9/23/2026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38849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3F475-35D2-4DB4-B393-F0CB7E443F34}" type="datetime1">
              <a:rPr lang="en-US" smtClean="0"/>
              <a:t>9/23/2026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88672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F7173-3C06-4909-B7DB-53FA6C1C449E}" type="datetime1">
              <a:rPr lang="en-US" smtClean="0"/>
              <a:t>9/23/2026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749178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6B61D-E795-4B3F-91F2-8D80F4704BCD}" type="datetime1">
              <a:rPr lang="en-US" smtClean="0"/>
              <a:t>9/23/2026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633191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5192F9-85A8-474E-9101-6E509395F1D7}" type="datetime1">
              <a:rPr lang="en-US" smtClean="0"/>
              <a:t>9/23/2026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75840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AA09B4-E520-4CE3-B3CD-968466114F87}" type="datetime1">
              <a:rPr lang="en-US" smtClean="0"/>
              <a:t>9/23/2026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595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711898-360B-AD49-DD62-FA3B7B662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A2BE89-A274-4461-2B81-5058744631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B2A70-C1DC-D783-67E1-97822E79A51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1BE44B-A080-444E-B2F8-66835D348D22}" type="datetime1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C5D01A-229C-E067-7B4E-BC254D6544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41767-E51C-1DAB-E3C8-F047E87A83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39234F-78F1-4984-9C4D-D4C7AB587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56373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AF9358-0389-4EC9-8C09-403CD6E20950}" type="datetime1">
              <a:rPr lang="en-US" smtClean="0"/>
              <a:t>9/23/2026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CNAD Project Review-1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AD1135-6E10-4422-AC8B-257B84239C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76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3" Type="http://schemas.openxmlformats.org/officeDocument/2006/relationships/hyperlink" Target="https://svgsilh.com/03a9f4/image/98809.html" TargetMode="External"/><Relationship Id="rId7" Type="http://schemas.openxmlformats.org/officeDocument/2006/relationships/diagramColors" Target="../diagrams/colors1.xml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5" Type="http://schemas.openxmlformats.org/officeDocument/2006/relationships/diagramLayout" Target="../diagrams/layout1.xml"/><Relationship Id="rId4" Type="http://schemas.openxmlformats.org/officeDocument/2006/relationships/diagramData" Target="../diagrams/data1.xml"/><Relationship Id="rId9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29-08-26 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8174584"/>
              </p:ext>
            </p:extLst>
          </p:nvPr>
        </p:nvGraphicFramePr>
        <p:xfrm>
          <a:off x="7250590" y="4882055"/>
          <a:ext cx="4438648" cy="124213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38648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1242136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PRANAV MAHAJAN-2420030727</a:t>
                      </a:r>
                    </a:p>
                    <a:p>
                      <a:pPr marL="0" algn="l" defTabSz="914400" rtl="0" eaLnBrk="1" latinLnBrk="0" hangingPunct="1"/>
                      <a:r>
                        <a:rPr lang="en-IN" sz="1600" b="0" kern="12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</a:rPr>
                        <a:t>B.SRIJAN-2420030201       </a:t>
                      </a:r>
                      <a:endParaRPr lang="en-IN" sz="1400" b="0" kern="12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7135470" y="4661318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9479435"/>
              </p:ext>
            </p:extLst>
          </p:nvPr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IN" sz="1400" b="1" dirty="0"/>
                        <a:t>Dr. Patha Srilatha</a:t>
                      </a:r>
                      <a:endParaRPr lang="en-US" sz="1400" b="1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Cambria"/>
                      </a:endParaRP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Associate Professor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CSE,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4" name="Date Placeholder 33">
            <a:extLst>
              <a:ext uri="{FF2B5EF4-FFF2-40B4-BE49-F238E27FC236}">
                <a16:creationId xmlns:a16="http://schemas.microsoft.com/office/drawing/2014/main" id="{C1554CCE-4DF8-89E6-E0F6-3C2A1439C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A51D8D-77C0-43B9-9B5F-E46EDA00679A}" type="datetime1">
              <a:rPr lang="en-US" b="1" smtClean="0"/>
              <a:t>9/23/2026</a:t>
            </a:fld>
            <a:r>
              <a:rPr lang="en-US" b="1" dirty="0"/>
              <a:t> </a:t>
            </a:r>
            <a:endParaRPr lang="en-IN" b="1" dirty="0"/>
          </a:p>
        </p:txBody>
      </p:sp>
      <p:sp>
        <p:nvSpPr>
          <p:cNvPr id="35" name="Footer Placeholder 34">
            <a:extLst>
              <a:ext uri="{FF2B5EF4-FFF2-40B4-BE49-F238E27FC236}">
                <a16:creationId xmlns:a16="http://schemas.microsoft.com/office/drawing/2014/main" id="{8FB49AA0-2464-6225-6B6C-063F9A6EC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b="1" dirty="0"/>
              <a:t>CNAD Project Review-1</a:t>
            </a:r>
          </a:p>
        </p:txBody>
      </p: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538061" y="785033"/>
            <a:ext cx="107156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2800" b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Smart </a:t>
            </a:r>
            <a:r>
              <a:rPr lang="en-US" sz="28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Campus Management Platform Using Cloud-Native Microservices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Poppins" pitchFamily="2" charset="77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638175" y="2199745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CNAD </a:t>
            </a:r>
            <a:r>
              <a:rPr lang="en-IN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Project Review-2</a:t>
            </a:r>
            <a:endParaRPr lang="en-IN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FAE64B-DFA9-4528-D74E-DAEA88C008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4C1F5F2-ECD8-4C6D-ADBC-EC676B29AED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9/23/2026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1222DE7-17C6-1B7E-71C0-2347B0AA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CNAD Project Review-1</a:t>
            </a: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20A00F-144B-157D-A12F-7CF90703C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A3A418F-4DEE-4BB1-940B-1145D135750E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97C6D7-F4DC-4908-B610-D10EE43A9B41}"/>
              </a:ext>
            </a:extLst>
          </p:cNvPr>
          <p:cNvSpPr txBox="1"/>
          <p:nvPr/>
        </p:nvSpPr>
        <p:spPr>
          <a:xfrm>
            <a:off x="3020906" y="173546"/>
            <a:ext cx="5854242" cy="646331"/>
          </a:xfrm>
          <a:prstGeom prst="rect">
            <a:avLst/>
          </a:prstGeom>
          <a:ln>
            <a:noFill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3600" b="1" i="0" u="none" strike="noStrike" kern="1200" cap="none" spc="0" normalizeH="0" baseline="0" noProof="0" dirty="0">
                <a:ln w="0"/>
                <a:solidFill>
                  <a:srgbClr val="4472C4"/>
                </a:solidFill>
                <a:effectLst/>
                <a:uLnTx/>
                <a:uFillTx/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Outline of Project Work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25CDE63-8DDC-4AC4-7713-9D89D6D0F4B1}"/>
              </a:ext>
            </a:extLst>
          </p:cNvPr>
          <p:cNvGrpSpPr/>
          <p:nvPr/>
        </p:nvGrpSpPr>
        <p:grpSpPr>
          <a:xfrm>
            <a:off x="2001361" y="1377996"/>
            <a:ext cx="6784432" cy="4438977"/>
            <a:chOff x="1929643" y="1656655"/>
            <a:chExt cx="6784432" cy="4438977"/>
          </a:xfrm>
        </p:grpSpPr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C0A4CA55-824E-91B2-D5F9-032778D4B8B3}"/>
                </a:ext>
              </a:extLst>
            </p:cNvPr>
            <p:cNvSpPr txBox="1"/>
            <p:nvPr/>
          </p:nvSpPr>
          <p:spPr>
            <a:xfrm>
              <a:off x="2675533" y="3257433"/>
              <a:ext cx="4267376" cy="960328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Challenges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EE7E17B2-5AF8-C463-91C3-5B87FC773369}"/>
                </a:ext>
              </a:extLst>
            </p:cNvPr>
            <p:cNvSpPr txBox="1"/>
            <p:nvPr/>
          </p:nvSpPr>
          <p:spPr>
            <a:xfrm>
              <a:off x="2922896" y="3753448"/>
              <a:ext cx="4374693" cy="873572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Research Objectives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D160BA9-A291-1BA5-C03E-7218C2169C28}"/>
                </a:ext>
              </a:extLst>
            </p:cNvPr>
            <p:cNvSpPr txBox="1"/>
            <p:nvPr/>
          </p:nvSpPr>
          <p:spPr>
            <a:xfrm>
              <a:off x="3139925" y="4332926"/>
              <a:ext cx="4529560" cy="937693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Conclusion &amp; Future Work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6C792DA3-F484-948A-E346-F158FE24CE3F}"/>
                </a:ext>
              </a:extLst>
            </p:cNvPr>
            <p:cNvSpPr txBox="1"/>
            <p:nvPr/>
          </p:nvSpPr>
          <p:spPr>
            <a:xfrm>
              <a:off x="3426151" y="4880317"/>
              <a:ext cx="4774676" cy="91973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References</a:t>
              </a:r>
              <a:b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</a:br>
              <a:endPara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957E2443-43F4-3FA3-6C83-796D6B456220}"/>
                </a:ext>
              </a:extLst>
            </p:cNvPr>
            <p:cNvSpPr txBox="1"/>
            <p:nvPr/>
          </p:nvSpPr>
          <p:spPr>
            <a:xfrm>
              <a:off x="3822549" y="5483028"/>
              <a:ext cx="4891526" cy="61260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Publications Details</a:t>
              </a:r>
            </a:p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1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FEE87FCF-6A51-9005-163C-5E3B5C1257B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8229530" y="5002476"/>
              <a:ext cx="455841" cy="536286"/>
            </a:xfrm>
            <a:prstGeom prst="rect">
              <a:avLst/>
            </a:prstGeom>
          </p:spPr>
        </p:pic>
        <p:sp>
          <p:nvSpPr>
            <p:cNvPr id="28" name="Content Placeholder 11">
              <a:extLst>
                <a:ext uri="{FF2B5EF4-FFF2-40B4-BE49-F238E27FC236}">
                  <a16:creationId xmlns:a16="http://schemas.microsoft.com/office/drawing/2014/main" id="{F1211E34-5F1E-9B5C-4C59-2549F412DCD1}"/>
                </a:ext>
              </a:extLst>
            </p:cNvPr>
            <p:cNvSpPr txBox="1">
              <a:spLocks/>
            </p:cNvSpPr>
            <p:nvPr/>
          </p:nvSpPr>
          <p:spPr>
            <a:xfrm>
              <a:off x="1929643" y="1656655"/>
              <a:ext cx="3548330" cy="748994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Focus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sp>
          <p:nvSpPr>
            <p:cNvPr id="31" name="Content Placeholder 11">
              <a:extLst>
                <a:ext uri="{FF2B5EF4-FFF2-40B4-BE49-F238E27FC236}">
                  <a16:creationId xmlns:a16="http://schemas.microsoft.com/office/drawing/2014/main" id="{4D713724-2EA7-CA04-47B9-F63B3DAC496D}"/>
                </a:ext>
              </a:extLst>
            </p:cNvPr>
            <p:cNvSpPr txBox="1">
              <a:spLocks/>
            </p:cNvSpPr>
            <p:nvPr/>
          </p:nvSpPr>
          <p:spPr>
            <a:xfrm>
              <a:off x="2209801" y="2217836"/>
              <a:ext cx="3886200" cy="666229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 cap="flat" cmpd="sng" algn="ctr">
              <a:solidFill>
                <a:schemeClr val="accent4"/>
              </a:solidFill>
              <a:prstDash val="solid"/>
              <a:miter lim="800000"/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dk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Introduction</a:t>
              </a: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430213" marR="0" lvl="0" indent="-342900" algn="l" defTabSz="914400" rtl="0" eaLnBrk="1" fontAlgn="auto" latinLnBrk="0" hangingPunct="1">
                <a:lnSpc>
                  <a:spcPct val="15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endPara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30000"/>
                </a:lnSpc>
                <a:spcBef>
                  <a:spcPts val="504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/>
                <a:defRPr/>
              </a:pPr>
              <a:endParaRPr kumimoji="0" lang="en-US" sz="2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  <a:p>
              <a:pPr marL="228600" marR="0" lvl="0" indent="-22860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Arial" panose="020B0604020202020204" pitchFamily="34" charset="0"/>
                <a:buChar char="•"/>
                <a:tabLst/>
                <a:defRPr/>
              </a:pPr>
              <a:endPara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endParaRPr>
            </a:p>
          </p:txBody>
        </p:sp>
        <p:pic>
          <p:nvPicPr>
            <p:cNvPr id="36" name="Graphic 35">
              <a:extLst>
                <a:ext uri="{FF2B5EF4-FFF2-40B4-BE49-F238E27FC236}">
                  <a16:creationId xmlns:a16="http://schemas.microsoft.com/office/drawing/2014/main" id="{55B3B570-3194-94D5-869B-2F3E3E133BA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683523" y="4358877"/>
              <a:ext cx="455841" cy="536286"/>
            </a:xfrm>
            <a:prstGeom prst="rect">
              <a:avLst/>
            </a:prstGeom>
          </p:spPr>
        </p:pic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A01B3509-5090-7764-12FF-0CDB13E360A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7229942" y="3813495"/>
              <a:ext cx="455841" cy="536286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4A5FDD7E-5A46-92A5-C963-19E091BBF72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863353" y="3200501"/>
              <a:ext cx="455841" cy="536286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C50C5009-E2F0-E358-4C45-CAEADDEC93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443196" y="2766955"/>
              <a:ext cx="455841" cy="536286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F1D91F2F-C2FB-3146-467B-21A20C8410D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6040392" y="2252522"/>
              <a:ext cx="455841" cy="536286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7B0FD951-BFA0-1228-E572-2BFE866AEE7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  <a:ext uri="{837473B0-CC2E-450A-ABE3-18F120FF3D39}">
                  <a1611:picAttrSrcUrl xmlns:a1611="http://schemas.microsoft.com/office/drawing/2016/11/main" r:id="rId3"/>
                </a:ext>
              </a:extLst>
            </a:blip>
            <a:stretch>
              <a:fillRect/>
            </a:stretch>
          </p:blipFill>
          <p:spPr>
            <a:xfrm rot="21415757" flipH="1">
              <a:off x="5626122" y="1721293"/>
              <a:ext cx="455841" cy="536286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76F380C-3238-E430-3C22-3C23884CE532}"/>
                </a:ext>
              </a:extLst>
            </p:cNvPr>
            <p:cNvSpPr txBox="1"/>
            <p:nvPr/>
          </p:nvSpPr>
          <p:spPr>
            <a:xfrm>
              <a:off x="2490411" y="2773626"/>
              <a:ext cx="4004225" cy="506870"/>
            </a:xfrm>
            <a:prstGeom prst="rect">
              <a:avLst/>
            </a:prstGeom>
            <a:solidFill>
              <a:schemeClr val="tx1">
                <a:lumMod val="75000"/>
                <a:lumOff val="25000"/>
              </a:schemeClr>
            </a:solidFill>
            <a:ln w="19050">
              <a:solidFill>
                <a:schemeClr val="accent4"/>
              </a:solidFill>
            </a:ln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wrap="square">
              <a:spAutoFit/>
            </a:bodyPr>
            <a:lstStyle/>
            <a:p>
              <a:pPr marL="430213" marR="0" lvl="0" indent="-342900" algn="l" defTabSz="457200" rtl="0" eaLnBrk="1" fontAlgn="auto" latinLnBrk="0" hangingPunct="1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ClrTx/>
                <a:buSzPts val="2520"/>
                <a:buFont typeface="Arial" panose="020B0604020202020204" pitchFamily="34" charset="0"/>
                <a:buChar char="•"/>
                <a:tabLst>
                  <a:tab pos="444500" algn="l"/>
                </a:tabLst>
                <a:defRPr/>
              </a:pPr>
              <a:r>
                <a:rPr kumimoji="0" lang="en-US" sz="204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Times New Roman" pitchFamily="18" charset="0"/>
                  <a:ea typeface="Calibri"/>
                  <a:cs typeface="Times New Roman" pitchFamily="18" charset="0"/>
                  <a:sym typeface="Calibri"/>
                </a:rPr>
                <a:t>Literature Survey</a:t>
              </a:r>
              <a:endParaRPr kumimoji="0" lang="en-US" sz="204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itchFamily="18" charset="0"/>
                <a:ea typeface="Calibri"/>
                <a:cs typeface="Times New Roman" pitchFamily="18" charset="0"/>
                <a:sym typeface="Calibri"/>
              </a:endParaRPr>
            </a:p>
          </p:txBody>
        </p:sp>
      </p:grpSp>
      <p:graphicFrame>
        <p:nvGraphicFramePr>
          <p:cNvPr id="26" name="Diagram 25">
            <a:extLst>
              <a:ext uri="{FF2B5EF4-FFF2-40B4-BE49-F238E27FC236}">
                <a16:creationId xmlns:a16="http://schemas.microsoft.com/office/drawing/2014/main" id="{C044B753-17EC-8A45-927F-C44CC40ED5BA}"/>
              </a:ext>
            </a:extLst>
          </p:cNvPr>
          <p:cNvGraphicFramePr/>
          <p:nvPr/>
        </p:nvGraphicFramePr>
        <p:xfrm>
          <a:off x="41510" y="115414"/>
          <a:ext cx="1474694" cy="9423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0B4D1914-919F-D842-1FC2-1BBFC0E95C2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249380" y="0"/>
            <a:ext cx="1901110" cy="622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9694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C8F81-5402-FBBE-D32A-834F3C603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A614DC-364B-1BD9-B452-BC2E55FD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122E8B8-54AE-F861-D576-B62C19A55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E259-4615-46D4-A3BD-7CF5E55937D6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3DF040-570B-E40C-28DD-48ACF4776D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7450DC-5C76-3221-3705-A7713237D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3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CB58DBC-97DD-CAE2-6032-D8BF2561F46C}"/>
              </a:ext>
            </a:extLst>
          </p:cNvPr>
          <p:cNvSpPr/>
          <p:nvPr/>
        </p:nvSpPr>
        <p:spPr>
          <a:xfrm>
            <a:off x="3834920" y="136525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09F851-C121-6761-0E1E-86D2963267A8}"/>
              </a:ext>
            </a:extLst>
          </p:cNvPr>
          <p:cNvSpPr txBox="1"/>
          <p:nvPr/>
        </p:nvSpPr>
        <p:spPr>
          <a:xfrm>
            <a:off x="546754" y="1184050"/>
            <a:ext cx="11425287" cy="43883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Problem Statement</a:t>
            </a:r>
          </a:p>
          <a:p>
            <a:r>
              <a:rPr lang="en-IN" dirty="0"/>
              <a:t>Modern educational institutions manage multiple campus activities such as </a:t>
            </a:r>
            <a:r>
              <a:rPr lang="en-IN" b="1" dirty="0"/>
              <a:t>student information, attendance, academics, faculty services, events, transport, facilities, and communication</a:t>
            </a:r>
            <a:r>
              <a:rPr lang="en-IN" dirty="0"/>
              <a:t>.</a:t>
            </a:r>
          </a:p>
          <a:p>
            <a:r>
              <a:rPr lang="en-IN" dirty="0"/>
              <a:t>However, these services are often maintained through separate applications and databases, making it difficult to: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Integrate different campus services into a single platform.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Provide real-time access to campus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Handle increasing numbers of students, faculty, and administrative users.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Scale individual services based on demand.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Maintain reliable communication between different campus modules.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Monitor system health and service availability.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Secure sensitive student and institutional information.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Update or deploy individual services without affecting the entire application. </a:t>
            </a:r>
          </a:p>
          <a:p>
            <a:r>
              <a:rPr lang="en-IN" b="1" dirty="0"/>
              <a:t>Therefore:</a:t>
            </a:r>
          </a:p>
          <a:p>
            <a:r>
              <a:rPr lang="en-IN" dirty="0"/>
              <a:t>There is a need for a </a:t>
            </a:r>
            <a:r>
              <a:rPr lang="en-IN" b="1" dirty="0"/>
              <a:t>unified, scalable, secure, and highly available Smart Campus Management Platform</a:t>
            </a:r>
            <a:r>
              <a:rPr lang="en-IN" dirty="0"/>
              <a:t> that uses </a:t>
            </a:r>
            <a:r>
              <a:rPr lang="en-IN" b="1" dirty="0"/>
              <a:t>cloud-native microservices</a:t>
            </a:r>
            <a:r>
              <a:rPr lang="en-IN" dirty="0"/>
              <a:t> to independently manage and integrate different campus services.</a:t>
            </a:r>
          </a:p>
        </p:txBody>
      </p:sp>
    </p:spTree>
    <p:extLst>
      <p:ext uri="{BB962C8B-B14F-4D97-AF65-F5344CB8AC3E}">
        <p14:creationId xmlns:p14="http://schemas.microsoft.com/office/powerpoint/2010/main" val="184393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D4AF34-8CFC-8161-A3CD-DED259C92A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C6E66-DFCA-CBBA-3972-F62C5800AE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1EEFAC-0ECA-A18F-A4B4-033D37111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D399FE-9025-4738-A866-75F92FF5600E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4FD4BC-7EB9-607E-38E4-8C64E6E11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4C535C-1312-10F3-FBDA-B7001433D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4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ADE4BBA-6735-AAC4-BA57-E76FE3B3CF7A}"/>
              </a:ext>
            </a:extLst>
          </p:cNvPr>
          <p:cNvSpPr/>
          <p:nvPr/>
        </p:nvSpPr>
        <p:spPr>
          <a:xfrm>
            <a:off x="3845080" y="122680"/>
            <a:ext cx="410512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2056429-62EE-8352-0370-1A0D825E325A}"/>
              </a:ext>
            </a:extLst>
          </p:cNvPr>
          <p:cNvSpPr txBox="1"/>
          <p:nvPr/>
        </p:nvSpPr>
        <p:spPr>
          <a:xfrm>
            <a:off x="496478" y="906601"/>
            <a:ext cx="11199043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1. Centralized Campus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Develop a unified platform to manage major campus services such as student management, attendance, academics, events, and facilities using microservices.</a:t>
            </a:r>
          </a:p>
          <a:p>
            <a:r>
              <a:rPr lang="en-IN" b="1" dirty="0"/>
              <a:t>2. Microservices-Based Architecture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Design independent microservices for different campus functions so that each service can be developed, deployed, maintained, and scaled independently.</a:t>
            </a:r>
          </a:p>
          <a:p>
            <a:r>
              <a:rPr lang="en-IN" b="1" dirty="0"/>
              <a:t>3. Cloud-Native 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Utilize cloud-native technologies such as </a:t>
            </a:r>
            <a:r>
              <a:rPr lang="en-IN" b="1" dirty="0"/>
              <a:t>containers, APIs, service communication, and orchestration</a:t>
            </a:r>
            <a:r>
              <a:rPr lang="en-IN" dirty="0"/>
              <a:t> to support increasing campus workloads.</a:t>
            </a:r>
          </a:p>
          <a:p>
            <a:r>
              <a:rPr lang="en-IN" b="1" dirty="0"/>
              <a:t>4. Real-Time Information &amp; Notifications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Provide students, faculty, and administrators with real-time updates regarding attendance, announcements, events, schedules, and campus services.</a:t>
            </a:r>
          </a:p>
          <a:p>
            <a:r>
              <a:rPr lang="en-IN" b="1" dirty="0"/>
              <a:t>5. Secure Role-Based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Implement authentication and authorization based on user roles such as </a:t>
            </a:r>
            <a:r>
              <a:rPr lang="en-IN" b="1" dirty="0"/>
              <a:t>Student, Faculty, and Administrator</a:t>
            </a:r>
            <a:r>
              <a:rPr lang="en-IN" dirty="0"/>
              <a:t>.</a:t>
            </a:r>
          </a:p>
          <a:p>
            <a:r>
              <a:rPr lang="en-IN" b="1" dirty="0"/>
              <a:t>6. Monitoring &amp; Reliability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Monitor individual services and system performance to detect failures and maintain high availability.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Reduce manual processes and provide a convenient digital platform for students, faculty, and administrators.</a:t>
            </a:r>
          </a:p>
        </p:txBody>
      </p:sp>
    </p:spTree>
    <p:extLst>
      <p:ext uri="{BB962C8B-B14F-4D97-AF65-F5344CB8AC3E}">
        <p14:creationId xmlns:p14="http://schemas.microsoft.com/office/powerpoint/2010/main" val="39177829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ACD11AD-3AF5-B626-2B60-0567E4585BB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072338474"/>
              </p:ext>
            </p:extLst>
          </p:nvPr>
        </p:nvGraphicFramePr>
        <p:xfrm>
          <a:off x="274646" y="689466"/>
          <a:ext cx="11642705" cy="4708337"/>
        </p:xfrm>
        <a:graphic>
          <a:graphicData uri="http://schemas.openxmlformats.org/drawingml/2006/table">
            <a:tbl>
              <a:tblPr firstRow="1" bandRow="1">
                <a:tableStyleId>{BC89EF96-8CEA-46FF-86C4-4CE0E7609802}</a:tableStyleId>
              </a:tblPr>
              <a:tblGrid>
                <a:gridCol w="10890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75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7610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9365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865714">
                  <a:extLst>
                    <a:ext uri="{9D8B030D-6E8A-4147-A177-3AD203B41FA5}">
                      <a16:colId xmlns:a16="http://schemas.microsoft.com/office/drawing/2014/main" val="1396003017"/>
                    </a:ext>
                  </a:extLst>
                </a:gridCol>
              </a:tblGrid>
              <a:tr h="38791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Authors / Source</a:t>
                      </a:r>
                      <a:endParaRPr lang="en-IN" sz="12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Title / Area</a:t>
                      </a:r>
                      <a:endParaRPr lang="en-IN" sz="12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Methodology</a:t>
                      </a:r>
                      <a:endParaRPr lang="en-IN" sz="12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Inferences</a:t>
                      </a:r>
                      <a:endParaRPr lang="en-IN" sz="12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b="1"/>
                        <a:t>Limitation / Future Work</a:t>
                      </a:r>
                      <a:endParaRPr lang="en-IN" sz="1200"/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193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Newman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Building Microservices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Microservices architectural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Independent services improve modularity, scalability, and maintainability.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Microservices introduce communication and deployment complexity.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14155954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Richardson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Microservices Patterns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Architectural patterns for distributed applications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API gateways, service discovery, database-per-service and event-driven communication support microservice systems.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Requires careful service design and monitoring.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5426370"/>
                  </a:ext>
                </a:extLst>
              </a:tr>
              <a:tr h="13546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NIST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Cloud Computing / Cloud-Native Concepts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Cloud architecture and security guidelines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Cloud platforms provide scalability, resource flexibility, and availability.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Requires appropriate security and resource management.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41575018"/>
                  </a:ext>
                </a:extLst>
              </a:tr>
            </a:tbl>
          </a:graphicData>
        </a:graphic>
      </p:graphicFrame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0FDE360-66C4-26CA-5DB9-8E99C2685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BE2E2B-EEBE-417C-831B-9A36F38228DC}" type="datetime1">
              <a:rPr lang="en-US" smtClean="0"/>
              <a:t>9/23/2026</a:t>
            </a:fld>
            <a:endParaRPr lang="en-IN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F095753-622E-2BA7-9495-60F9B6E57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CNAD Project Review-1</a:t>
            </a:r>
            <a:endParaRPr lang="en-IN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9784944-5437-9E89-7017-F3DB9CA914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3A418F-4DEE-4BB1-940B-1145D135750E}" type="slidenum">
              <a:rPr lang="en-IN" smtClean="0"/>
              <a:t>5</a:t>
            </a:fld>
            <a:endParaRPr lang="en-I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3EBAEA-8DC6-8F54-F0D6-38F9643BD4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704399D-42EB-45BD-D43F-A5AE14D447C0}"/>
              </a:ext>
            </a:extLst>
          </p:cNvPr>
          <p:cNvSpPr/>
          <p:nvPr/>
        </p:nvSpPr>
        <p:spPr>
          <a:xfrm>
            <a:off x="3773960" y="28819"/>
            <a:ext cx="4105120" cy="593732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ea typeface="Cambria"/>
                <a:cs typeface="Times New Roman" panose="02020603050405020304" pitchFamily="18" charset="0"/>
              </a:rPr>
              <a:t>Literature Survey</a:t>
            </a:r>
            <a:endParaRPr lang="en-IN" sz="2800" b="1" dirty="0">
              <a:ln w="0"/>
              <a:solidFill>
                <a:schemeClr val="bg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277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EF2FA-32F2-6715-843F-6ACC796D05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777B92A-0C12-D39A-8847-98719E7B6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8EF7CC6-A232-6F78-D877-F4139E33B6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82076-AD1E-4D44-9D37-ACCF737AE8A4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1B73B0-000A-32FB-5643-CD5676D4AF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A1E0BD-2CF1-90B0-91FF-80A63764D2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6</a:t>
            </a:fld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D00B50F-4223-2213-E4CD-57D228BCA0B6}"/>
              </a:ext>
            </a:extLst>
          </p:cNvPr>
          <p:cNvSpPr/>
          <p:nvPr/>
        </p:nvSpPr>
        <p:spPr>
          <a:xfrm>
            <a:off x="3352320" y="268328"/>
            <a:ext cx="5258280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Problem Gap Identification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3A3C70-AE75-C30E-2D3B-82FA8431DCD9}"/>
              </a:ext>
            </a:extLst>
          </p:cNvPr>
          <p:cNvSpPr txBox="1"/>
          <p:nvPr/>
        </p:nvSpPr>
        <p:spPr>
          <a:xfrm>
            <a:off x="501192" y="1127404"/>
            <a:ext cx="1118961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1. Fragmented Campus Services — Primary Focus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Traditional campus applications often manage individual functions separately, such as: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Student management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Attendance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Academics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Events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Facilities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Communication </a:t>
            </a:r>
          </a:p>
          <a:p>
            <a:r>
              <a:rPr lang="en-IN" dirty="0"/>
              <a:t>There is a need for a </a:t>
            </a:r>
            <a:r>
              <a:rPr lang="en-IN" b="1" dirty="0"/>
              <a:t>unified platform</a:t>
            </a:r>
            <a:r>
              <a:rPr lang="en-IN" dirty="0"/>
              <a:t> where these services can communicate efficiently while remaining independently manageable.</a:t>
            </a:r>
          </a:p>
          <a:p>
            <a:r>
              <a:rPr lang="en-IN" b="1" dirty="0"/>
              <a:t>2. Scalability &amp; Availability — Secondary Focus</a:t>
            </a:r>
          </a:p>
          <a:p>
            <a:r>
              <a:rPr lang="en-IN" dirty="0"/>
              <a:t>Monolithic applications can become difficult to scale when the number of users and transactions increases.</a:t>
            </a:r>
          </a:p>
          <a:p>
            <a:r>
              <a:rPr lang="en-IN" dirty="0"/>
              <a:t>There is a need for an architecture where individual services can be </a:t>
            </a:r>
            <a:r>
              <a:rPr lang="en-IN" b="1" dirty="0"/>
              <a:t>independently scaled and deployed</a:t>
            </a:r>
            <a:r>
              <a:rPr lang="en-IN" dirty="0"/>
              <a:t> according to demand.</a:t>
            </a:r>
          </a:p>
          <a:p>
            <a:r>
              <a:rPr lang="en-IN" b="1" dirty="0"/>
              <a:t>Proposed Gap Addressed</a:t>
            </a:r>
          </a:p>
          <a:p>
            <a:r>
              <a:rPr lang="en-IN" dirty="0"/>
              <a:t>The proposed </a:t>
            </a:r>
            <a:r>
              <a:rPr lang="en-IN" b="1" dirty="0"/>
              <a:t>Smart Campus Management Platform</a:t>
            </a:r>
            <a:r>
              <a:rPr lang="en-IN" dirty="0"/>
              <a:t> addresses these gaps by using a </a:t>
            </a:r>
            <a:r>
              <a:rPr lang="en-IN" b="1" dirty="0"/>
              <a:t>cloud-native microservices architecture</a:t>
            </a:r>
            <a:r>
              <a:rPr lang="en-IN" dirty="0"/>
              <a:t> that integrates campus services while providing scalability, modularity, security, and reliability.</a:t>
            </a:r>
          </a:p>
        </p:txBody>
      </p:sp>
    </p:spTree>
    <p:extLst>
      <p:ext uri="{BB962C8B-B14F-4D97-AF65-F5344CB8AC3E}">
        <p14:creationId xmlns:p14="http://schemas.microsoft.com/office/powerpoint/2010/main" val="20658760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BC6D84-077B-7007-4B63-807557EC6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BC5F926-1E4C-4031-B9E9-6A17F126A3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8788A6-87D6-D1AD-CD09-882273D2C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28917A-4773-4F0C-BADF-AB7FA9859A31}" type="datetime1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64A259-1A89-35BF-04C0-AB6DECF4E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5C214-DB26-4476-F790-7E558BB673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7</a:t>
            </a:fld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6FE5EF9-EC7B-4BF5-92FE-E68EC6C8C5B2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Innovation, Creativity, and Novelty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4656452-A85C-FB46-4713-B6931E0ADC4F}"/>
              </a:ext>
            </a:extLst>
          </p:cNvPr>
          <p:cNvSpPr txBox="1"/>
          <p:nvPr/>
        </p:nvSpPr>
        <p:spPr>
          <a:xfrm>
            <a:off x="348792" y="942680"/>
            <a:ext cx="11510128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1. Microservices-Based Smart Campus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Campus functions are divided into independent services such as Student, Attendance, Academic, Event, Notification, and Facility Management.</a:t>
            </a:r>
          </a:p>
          <a:p>
            <a:r>
              <a:rPr lang="en-IN" b="1" dirty="0"/>
              <a:t>2. Independent Scalability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Each microservice can be scaled independently based on its workload instead of scaling the complete application.</a:t>
            </a:r>
          </a:p>
          <a:p>
            <a:r>
              <a:rPr lang="en-IN" b="1" dirty="0"/>
              <a:t>3. API Gateway-Based Integration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 centralized API Gateway provides a common entry point for users and manages communication between clients and backend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The platform provides customized functionality for based on their roles and permissions:</a:t>
            </a:r>
          </a:p>
          <a:p>
            <a:pPr marL="742950" lvl="1" indent="-285750">
              <a:buFont typeface="Courier New" panose="02070309020205020404" pitchFamily="49" charset="0"/>
              <a:buChar char="o"/>
            </a:pPr>
            <a:r>
              <a:rPr lang="en-IN" b="1" dirty="0"/>
              <a:t>Student → Faculty → Administrator</a:t>
            </a:r>
            <a:endParaRPr lang="en-IN" dirty="0"/>
          </a:p>
          <a:p>
            <a:r>
              <a:rPr lang="en-IN" b="1" dirty="0"/>
              <a:t>4. Centralized Monitoring</a:t>
            </a:r>
          </a:p>
          <a:p>
            <a:r>
              <a:rPr lang="en-IN" dirty="0"/>
              <a:t>Service health, performance, errors, and availability can be monitored across the microservices environment and Failure of one service should not bring down the entire campus platform, improving system reliability.</a:t>
            </a:r>
          </a:p>
          <a:p>
            <a:r>
              <a:rPr lang="en-IN" b="1" dirty="0"/>
              <a:t>5. Cloud-Native Deployment</a:t>
            </a:r>
          </a:p>
          <a:p>
            <a:r>
              <a:rPr lang="en-IN" dirty="0"/>
              <a:t>Containerization and orchestration can be used to deploy and manage services efficiently in a cloud environment.</a:t>
            </a:r>
          </a:p>
          <a:p>
            <a:r>
              <a:rPr lang="en-IN" b="1" dirty="0"/>
              <a:t>Proposed Workflow</a:t>
            </a:r>
          </a:p>
          <a:p>
            <a:r>
              <a:rPr lang="en-IN" b="1" dirty="0"/>
              <a:t>User Request → API Gateway → Microservice → Database / Service → Response → Notification / Monitoring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1353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AFF3A1-5C1B-139E-D79A-72B884780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ED1E-D5CF-4737-9463-A65281469B97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7EC70D-1363-E80E-D957-B7196CB13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51C404-5E3A-5943-D47B-EDA9706D29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8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DA611A3-C40B-C4D0-FC5B-A6E3CFDFC96B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Project Plan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E38E67-9225-6B86-410B-4EF0BA909760}"/>
              </a:ext>
            </a:extLst>
          </p:cNvPr>
          <p:cNvSpPr txBox="1"/>
          <p:nvPr/>
        </p:nvSpPr>
        <p:spPr>
          <a:xfrm>
            <a:off x="452487" y="1018095"/>
            <a:ext cx="1124617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Technical Feasibility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Microservices can be implemented using technologies such as </a:t>
            </a:r>
            <a:r>
              <a:rPr lang="en-IN" b="1" dirty="0"/>
              <a:t>Java Spring Boot / Node.js / Python</a:t>
            </a:r>
            <a:r>
              <a:rPr lang="en-IN" dirty="0"/>
              <a:t>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REST APIs can enable communication between services.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Docker can be used for containerization.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Kubernetes can be used for container orchestration.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Cloud platforms can provide deployment and scalability. </a:t>
            </a:r>
          </a:p>
          <a:p>
            <a:r>
              <a:rPr lang="en-IN" b="1" dirty="0"/>
              <a:t>Operational Feasibility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Students can access campus services through a centralized interface.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Faculty can manage academic and student-related activities.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Administrators can monitor and manage campus operations. </a:t>
            </a:r>
          </a:p>
          <a:p>
            <a:r>
              <a:rPr lang="en-IN" b="1" dirty="0"/>
              <a:t>Economic Feasibility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Open-source technologies can reduce development costs.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Cloud resources can be scaled according to actual requirements.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Independent services reduce the cost and risk of modifying the complete system.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C6CB30-9554-E7FF-7A4C-76A15B603E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26930D-2C4E-BD95-FE1A-BCB7D5A17B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276512-42C0-F62D-1C5E-CFEDF9619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F6ED1E-D5CF-4737-9463-A65281469B97}" type="datetime1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30E9FD-3D2A-9AC9-1959-80C9002A0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CNAD Project Review-1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DE95C9-C22B-5A2E-4E6E-F5B70B303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39234F-78F1-4984-9C4D-D4C7AB587871}" type="slidenum">
              <a:rPr lang="en-US" smtClean="0"/>
              <a:t>9</a:t>
            </a:fld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621F3D-9253-A684-E207-5C1A09B39517}"/>
              </a:ext>
            </a:extLst>
          </p:cNvPr>
          <p:cNvSpPr/>
          <p:nvPr/>
        </p:nvSpPr>
        <p:spPr>
          <a:xfrm>
            <a:off x="2682240" y="136525"/>
            <a:ext cx="6303999" cy="708443"/>
          </a:xfrm>
          <a:prstGeom prst="round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Feasibility and Project Plan</a:t>
            </a:r>
          </a:p>
        </p:txBody>
      </p:sp>
      <p:pic>
        <p:nvPicPr>
          <p:cNvPr id="8" name="Picture 7" descr="The image is a timeline chart for a project, outlining the various phases and activities over a span of 14 weeks.&#10;&#10;AI-generated content may be incorrect.">
            <a:extLst>
              <a:ext uri="{FF2B5EF4-FFF2-40B4-BE49-F238E27FC236}">
                <a16:creationId xmlns:a16="http://schemas.microsoft.com/office/drawing/2014/main" id="{DDA2E96B-E74B-A3F9-4E03-15B6C3CD52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291" y="1005486"/>
            <a:ext cx="10662250" cy="4820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66386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</TotalTime>
  <Words>939</Words>
  <Application>Microsoft Office PowerPoint</Application>
  <PresentationFormat>Widescreen</PresentationFormat>
  <Paragraphs>159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Calibri Light</vt:lpstr>
      <vt:lpstr>Courier New</vt:lpstr>
      <vt:lpstr>Times New Roman</vt:lpstr>
      <vt:lpstr>Office Theme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srikanth ch</dc:creator>
  <cp:lastModifiedBy>Srijan Bojja</cp:lastModifiedBy>
  <cp:revision>36</cp:revision>
  <dcterms:created xsi:type="dcterms:W3CDTF">2026-08-08T06:33:56Z</dcterms:created>
  <dcterms:modified xsi:type="dcterms:W3CDTF">2026-09-23T03:21:23Z</dcterms:modified>
</cp:coreProperties>
</file>